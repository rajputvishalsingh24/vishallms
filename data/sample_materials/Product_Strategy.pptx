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Product Strategy: From Idea to Impact</a:t>
            </a:r>
          </a:p>
          <a:p>
            <a:pPr>
              <a:defRPr sz="1400">
                <a:solidFill>
                  <a:srgbClr val="3B82F6"/>
                </a:solidFill>
              </a:defRPr>
            </a:pPr>
            <a:r>
              <a:t>Build the right product, for the right users, at the right time.</a:t>
            </a:r>
            <a:br/>
            <a:r>
              <a:t>MBA Curriculum - Product Management Masterclass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Strategic alignment between business goals, customer needs, and technical feasibility.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How leading technology companies create enduring competitive moats.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Frameworks: Kano Model, Blue Ocean, and Product-Market Fit.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Understanding the Strategic Product Hierarchy</a:t>
            </a:r>
          </a:p>
          <a:p>
            <a:pPr>
              <a:defRPr sz="1400">
                <a:solidFill>
                  <a:srgbClr val="3B82F6"/>
                </a:solidFill>
              </a:defRPr>
            </a:pPr>
            <a:r>
              <a:t>Connecting high-level vision to ground-level sprint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Company Vision: The ultimate destination and lasting purpose (10+ years).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Product Strategy: The actionable plan, target segments, and competitive differentiators.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Product Roadmap: Strategic themes and sequence of prioritized milestones.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Sprint Backlog: User stories and tasks delivered by engineering squads.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Customer Discovery &amp; Problem Validation</a:t>
            </a:r>
          </a:p>
          <a:p>
            <a:pPr>
              <a:defRPr sz="1400">
                <a:solidFill>
                  <a:srgbClr val="3B82F6"/>
                </a:solidFill>
              </a:defRPr>
            </a:pPr>
            <a:r>
              <a:t>Fall in love with the problem, not your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Continuous discovery habits: Conducting weekly touchpoints with target customers.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The Mom Test principle: Ask about past behavior rather than hypothetical opinions.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Identifying the 'Job-To-Be-Done' (JTBD) through structured inquiry.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Distinguishing between 'vitamin' features and 'painkiller' solutions.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Market Segmentation, Targeting &amp; Positioning (STP)</a:t>
            </a:r>
          </a:p>
          <a:p>
            <a:pPr>
              <a:defRPr sz="1400">
                <a:solidFill>
                  <a:srgbClr val="3B82F6"/>
                </a:solidFill>
              </a:defRPr>
            </a:pPr>
            <a:r>
              <a:t>Designing products for specific customer archetypes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Segmentation: Demographic, Psychographic, Behavioral, and Needs-based.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Targeting: Evaluating Total Addressable Market (TAM), SAM, and SOM.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Positioning Statement: For [target user] who [problem], our product is [category] that [key benefit].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Avoiding the trap of building a generalized product for 'everyone'.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Competitive Differentiation &amp; Value Proposition</a:t>
            </a:r>
          </a:p>
          <a:p>
            <a:pPr>
              <a:defRPr sz="1400">
                <a:solidFill>
                  <a:srgbClr val="3B82F6"/>
                </a:solidFill>
              </a:defRPr>
            </a:pPr>
            <a:r>
              <a:t>Why should users choose your product over incumbent alternatives?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Hamilton Helmer's 7 Powers of competitive advantage.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Network effects: Direct vs Indirect network effects in marketplace platforms.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High switching costs and deep proprietary data moats.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Counter-positioning against established legacy incumbents.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Prioritization Frameworks: RICE &amp; Kano Models</a:t>
            </a:r>
          </a:p>
          <a:p>
            <a:pPr>
              <a:defRPr sz="1400">
                <a:solidFill>
                  <a:srgbClr val="3B82F6"/>
                </a:solidFill>
              </a:defRPr>
            </a:pPr>
            <a:r>
              <a:t>Making disciplined trade-offs with constrained engineering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RICE Score = (Reach x Impact x Confidence) / Effort.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Kano Model: Must-Haves (Basic needs), Performance attributes (Linear satisfaction), Delighters (Excitement).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MoSCoW Prioritization: Must have, Should have, Could have, Won't have.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Cost of Delay (CoD) and Weighted Shortest Job First (WSJF).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Defining Product-Market Fit (PMF) &amp; Traction</a:t>
            </a:r>
          </a:p>
          <a:p>
            <a:pPr>
              <a:defRPr sz="1400">
                <a:solidFill>
                  <a:srgbClr val="3B82F6"/>
                </a:solidFill>
              </a:defRPr>
            </a:pPr>
            <a:r>
              <a:t>The Sean Ellis 40% test and retention curve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Definition: When customer retention curves flatten out horizontally over time.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The Sean Ellis Rule: If &gt;40% of survey respondents would be 'very disappointed' without your product.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Cohort Analysis: Tracking 30-day and 90-day retention across customer acquisition channels.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Premature scaling: Spending heavily on paid marketing before validating retention.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Unit Economics &amp; Monetization Strategies</a:t>
            </a:r>
          </a:p>
          <a:p>
            <a:pPr>
              <a:defRPr sz="1400">
                <a:solidFill>
                  <a:srgbClr val="3B82F6"/>
                </a:solidFill>
              </a:defRPr>
            </a:pPr>
            <a:r>
              <a:t>Building a scalable, profitable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Customer Lifetime Value (LTV) vs Customer Acquisition Cost (CAC).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The 3:1 Rule: Healthy enterprise SaaS requires LTV / CAC &gt;= 3.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CAC Payback Period: Recovering acquisition investment within 12 months.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Freemium vs Product-Led Growth (PLG) self-serve tiers vs Enterprise sales.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Agile Delivery &amp; Scrum Sprint Cycles</a:t>
            </a:r>
          </a:p>
          <a:p>
            <a:pPr>
              <a:defRPr sz="1400">
                <a:solidFill>
                  <a:srgbClr val="3B82F6"/>
                </a:solidFill>
              </a:defRPr>
            </a:pPr>
            <a:r>
              <a:t>Translating strategy into rapid, iterative customer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Sprint Planning, Daily Standups, Sprint Review, and Retrospectives.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The Product Owner role: Defining acceptance criteria and user story definition.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Managing technical debt alongside strategic customer-facing feature requests.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Velocity tracking and release burndown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Product Analytics &amp; North Star Metric</a:t>
            </a:r>
          </a:p>
          <a:p>
            <a:pPr>
              <a:defRPr sz="1400">
                <a:solidFill>
                  <a:srgbClr val="3B82F6"/>
                </a:solidFill>
              </a:defRPr>
            </a:pPr>
            <a:r>
              <a:t>Guiding cross-functional teams with data-informed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The North Star Metric (NSM): The single metric that best captures core customer value.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Examples: Airbnb (Nights Booked), Spotify (Time Spent Listening), Slack (Messages Sent in Teams).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Input metrics: Actionable levers that influence the North Star Metric.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A/B Testing: Establishing statistical significance and sample size calculation.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Go-To-Market (GTM) Strategy &amp; Product Launch</a:t>
            </a:r>
          </a:p>
          <a:p>
            <a:pPr>
              <a:defRPr sz="1400">
                <a:solidFill>
                  <a:srgbClr val="3B82F6"/>
                </a:solidFill>
              </a:defRPr>
            </a:pPr>
            <a:r>
              <a:t>Orchestrating marketing, sales, and customer success for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Alpha and Beta customer cohorts: Gathering qualitative bug reports and usability feedback.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Inbound vs Outbound distribution channels and organic search optimization.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Sales enablement: Pitch decks, demo environments, battle cards against rivals.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Customer onboarding: Minimizing Time-to-Value (TTV) to prevent early churn.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Summary &amp; Key Takeaways for MBA Exams</a:t>
            </a:r>
          </a:p>
          <a:p>
            <a:pPr>
              <a:defRPr sz="1400">
                <a:solidFill>
                  <a:srgbClr val="3B82F6"/>
                </a:solidFill>
              </a:defRPr>
            </a:pPr>
            <a:r>
              <a:t>Core review points for strategic product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Strategy is about focus: Choose what NOT to build with equal conviction.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Never mistake outputs (shipped features) for outcomes (customer value &amp; business growth).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Maintain continuous empathy with end users while tracking unit economics.</a:t>
            </a:r>
          </a:p>
          <a:p>
            <a:pPr>
              <a:spcAft>
                <a:spcPts val="1400"/>
              </a:spcAft>
              <a:defRPr sz="1700">
                <a:solidFill>
                  <a:srgbClr val="334155"/>
                </a:solidFill>
              </a:defRPr>
            </a:pPr>
            <a:r>
              <a:t>• Review Questions: Describe the Kano Model and explain how a Delighter decays into a Must-Have.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