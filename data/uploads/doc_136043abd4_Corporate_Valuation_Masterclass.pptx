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Corporate Valuation &amp; DCF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1800"/>
            </a:pPr>
            <a:r>
              <a:t>• Discounted Cash Flow (DCF) calculates intrinsic value based on future cash flows.</a:t>
            </a:r>
          </a:p>
          <a:p>
            <a:pPr>
              <a:spcAft>
                <a:spcPts val="1200"/>
              </a:spcAft>
              <a:defRPr sz="1800"/>
            </a:pPr>
            <a:r>
              <a:t>• Enterprise Value (EV) = Market Value of Equity + Total Debt - Cash &amp; Cash Equivalents.</a:t>
            </a:r>
          </a:p>
          <a:p>
            <a:pPr>
              <a:spcAft>
                <a:spcPts val="1200"/>
              </a:spcAft>
              <a:defRPr sz="1800"/>
            </a:pPr>
            <a:r>
              <a:t>• Weighted Average Cost of Capital (WACC) serves as the discount rate hurdle.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Unlevered Free Cash Flow (FCFF)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1800"/>
            </a:pPr>
            <a:r>
              <a:t>• FCFF = EBIT x (1 - Tax Rate) + D&amp;A - Capital Expenditures - Changes in Net Working Capital.</a:t>
            </a:r>
          </a:p>
          <a:p>
            <a:pPr>
              <a:spcAft>
                <a:spcPts val="1200"/>
              </a:spcAft>
              <a:defRPr sz="1800"/>
            </a:pPr>
            <a:r>
              <a:t>• Terminal Value is calculated using the Gordon Growth Model or Exit Multiple method.</a:t>
            </a:r>
          </a:p>
          <a:p>
            <a:pPr>
              <a:spcAft>
                <a:spcPts val="1200"/>
              </a:spcAft>
              <a:defRPr sz="1800"/>
            </a:pPr>
            <a:r>
              <a:t>• Terminal Growth Rate assumption benchmark is typically between 2.0% and 3.0%.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Sensitivity Analysis &amp; Monte Carlo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1800"/>
            </a:pPr>
            <a:r>
              <a:t>• Two-way sensitivity matrices evaluate valuation against WACC and Perpetual Growth Rate variations.</a:t>
            </a:r>
          </a:p>
          <a:p>
            <a:pPr>
              <a:spcAft>
                <a:spcPts val="1200"/>
              </a:spcAft>
              <a:defRPr sz="1800"/>
            </a:pPr>
            <a:r>
              <a:t>• Football field charts display ranges across DCF, Precedent Transactions, and Trading Multiples.</a:t>
            </a:r>
          </a:p>
          <a:p>
            <a:pPr>
              <a:spcAft>
                <a:spcPts val="1200"/>
              </a:spcAft>
              <a:defRPr sz="1800"/>
            </a:pPr>
            <a:r>
              <a:t>• Key Metric: Implied share price compared against current public trading market price.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